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ead48a763546eb" /><Relationship Type="http://schemas.openxmlformats.org/officeDocument/2006/relationships/extended-properties" Target="/docProps/app.xml" Id="R4d5e29b3b11142fd" /><Relationship Type="http://schemas.openxmlformats.org/officeDocument/2006/relationships/officeDocument" Target="/ppt/presentation.xml" Id="Rec6d77c1e76f49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75253628a4242"/>
  </p:sldMasterIdLst>
  <p:notesMasterIdLst>
    <p:notesMasterId xmlns:r="http://schemas.openxmlformats.org/officeDocument/2006/relationships" r:id="Rc878755449064e21"/>
  </p:notesMasterIdLst>
  <p:sldIdLst>
    <p:sldId xmlns:r="http://schemas.openxmlformats.org/officeDocument/2006/relationships" id="256" r:id="R5ff6dd57587a41c9"/>
    <p:sldId xmlns:r="http://schemas.openxmlformats.org/officeDocument/2006/relationships" id="257" r:id="R9c5233f2ad6e4192"/>
    <p:sldId xmlns:r="http://schemas.openxmlformats.org/officeDocument/2006/relationships" id="258" r:id="Rd4ce82e79b8447c9"/>
    <p:sldId xmlns:r="http://schemas.openxmlformats.org/officeDocument/2006/relationships" id="259" r:id="Rc313fbf3a87b42f7"/>
    <p:sldId xmlns:r="http://schemas.openxmlformats.org/officeDocument/2006/relationships" id="260" r:id="R7af179abe6694cfa"/>
    <p:sldId xmlns:r="http://schemas.openxmlformats.org/officeDocument/2006/relationships" id="261" r:id="Rd50060a457b6406c"/>
    <p:sldId xmlns:r="http://schemas.openxmlformats.org/officeDocument/2006/relationships" id="262" r:id="Rd4f6473d11bc4401"/>
    <p:sldId xmlns:r="http://schemas.openxmlformats.org/officeDocument/2006/relationships" id="263" r:id="R82f127aa7329497b"/>
    <p:sldId xmlns:r="http://schemas.openxmlformats.org/officeDocument/2006/relationships" id="264" r:id="R2af2e0b2bab945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b94a5ed944cfa" /><Relationship Type="http://schemas.openxmlformats.org/officeDocument/2006/relationships/slideMaster" Target="/ppt/slideMasters/slideMaster1.xml" Id="Rc4975253628a4242" /><Relationship Type="http://schemas.openxmlformats.org/officeDocument/2006/relationships/notesMaster" Target="/ppt/notesMasters/notesMaster1.xml" Id="Rc878755449064e21" /><Relationship Type="http://schemas.openxmlformats.org/officeDocument/2006/relationships/presProps" Target="/ppt/presProps.xml" Id="R8159fdc64b5048ec" /><Relationship Type="http://schemas.openxmlformats.org/officeDocument/2006/relationships/tableStyles" Target="/ppt/tableStyles.xml" Id="R011640999d954b27" /><Relationship Type="http://schemas.openxmlformats.org/officeDocument/2006/relationships/slide" Target="/ppt/slides/slide1.xml" Id="R5ff6dd57587a41c9" /><Relationship Type="http://schemas.openxmlformats.org/officeDocument/2006/relationships/slide" Target="/ppt/slides/slide2.xml" Id="R9c5233f2ad6e4192" /><Relationship Type="http://schemas.openxmlformats.org/officeDocument/2006/relationships/slide" Target="/ppt/slides/slide3.xml" Id="Rd4ce82e79b8447c9" /><Relationship Type="http://schemas.openxmlformats.org/officeDocument/2006/relationships/slide" Target="/ppt/slides/slide4.xml" Id="Rc313fbf3a87b42f7" /><Relationship Type="http://schemas.openxmlformats.org/officeDocument/2006/relationships/slide" Target="/ppt/slides/slide5.xml" Id="R7af179abe6694cfa" /><Relationship Type="http://schemas.openxmlformats.org/officeDocument/2006/relationships/slide" Target="/ppt/slides/slide6.xml" Id="Rd50060a457b6406c" /><Relationship Type="http://schemas.openxmlformats.org/officeDocument/2006/relationships/slide" Target="/ppt/slides/slide7.xml" Id="Rd4f6473d11bc4401" /><Relationship Type="http://schemas.openxmlformats.org/officeDocument/2006/relationships/slide" Target="/ppt/slides/slide8.xml" Id="R82f127aa7329497b" /><Relationship Type="http://schemas.openxmlformats.org/officeDocument/2006/relationships/slide" Target="/ppt/slides/slide9.xml" Id="R2af2e0b2bab945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8b1e529874d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12ca929684a3b" /><Relationship Type="http://schemas.openxmlformats.org/officeDocument/2006/relationships/notesMaster" Target="/ppt/notesMasters/notesMaster1.xml" Id="Rc272b8880cff43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2a4207b9fc4712" /><Relationship Type="http://schemas.openxmlformats.org/officeDocument/2006/relationships/notesMaster" Target="/ppt/notesMasters/notesMaster1.xml" Id="R441158ee2f924c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a54c2506194f3c" /><Relationship Type="http://schemas.openxmlformats.org/officeDocument/2006/relationships/notesMaster" Target="/ppt/notesMasters/notesMaster1.xml" Id="R52c241e7318a4d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47e508197840c9" /><Relationship Type="http://schemas.openxmlformats.org/officeDocument/2006/relationships/notesMaster" Target="/ppt/notesMasters/notesMaster1.xml" Id="Re64d13c28f844d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c8997a085340dc" /><Relationship Type="http://schemas.openxmlformats.org/officeDocument/2006/relationships/notesMaster" Target="/ppt/notesMasters/notesMaster1.xml" Id="R582f682029ee46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9d7901ced84414" /><Relationship Type="http://schemas.openxmlformats.org/officeDocument/2006/relationships/notesMaster" Target="/ppt/notesMasters/notesMaster1.xml" Id="R4fc27e20e58b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1e3614d62a4f4b" /><Relationship Type="http://schemas.openxmlformats.org/officeDocument/2006/relationships/notesMaster" Target="/ppt/notesMasters/notesMaster1.xml" Id="Rb00ee1a8219e4d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253885e3d041bb" /><Relationship Type="http://schemas.openxmlformats.org/officeDocument/2006/relationships/notesMaster" Target="/ppt/notesMasters/notesMaster1.xml" Id="R113bc5f7421e41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657c32516a4ef0" /><Relationship Type="http://schemas.openxmlformats.org/officeDocument/2006/relationships/notesMaster" Target="/ppt/notesMasters/notesMaster1.xml" Id="R7bc7439e13794b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35 秒</a:t>
            </a:r>
          </a:p>
          <a:p xmlns:a="http://schemas.openxmlformats.org/drawingml/2006/main">
            <a:r>
              <a:t>先请同学用肉眼判断三张图。今天只解决黑线在画面中的横向位置。先在电脑上理解感知结果，再考虑接入机器人。无需提前掌握控制理论。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55 秒</a:t>
            </a:r>
          </a:p>
          <a:p xmlns:a="http://schemas.openxmlformats.org/drawingml/2006/main">
            <a:r>
              <a:t>说明数组先写行、再写列。下方区域更接近车前方，但这是本课程的观察区域选择，需按实际相机姿态调整。裁剪没有改变宽度，所以横向坐标可继续使用原图的 x。邀请同学指出 ROI 上边界在哪里。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75 秒</a:t>
            </a:r>
          </a:p>
          <a:p xmlns:a="http://schemas.openxmlformats.org/drawingml/2006/main">
            <a:r>
              <a:t>用一个像素做预测：灰度 20 小于阈值 100，因此反向阈值输出 255。背景灰度 240 输出 0。强调掩膜中的白色不是白底，而是我们要找的深色目标。请同学预测灰度恰好为 100 时输出什么，答案为 255。</a:t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https://docs.opencv.org/4.x/d7/d4d/tutorial_py_thresholding.html</a:t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70 秒</a:t>
            </a:r>
          </a:p>
          <a:p xmlns:a="http://schemas.openxmlformats.org/drawingml/2006/main">
            <a:r>
              <a:t>介绍 findContours 在二值图中找前景边界。先用最小面积排除小噪点，再检查候选数量。当前演示还限制目标占比和宽度。两个显著区域、大面积阴影都会返回 ambiguous。说明这些启发式有局限，不能保证识别所有阴影或路口。</a:t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https://docs.opencv.org/4.x/d4/d73/tutorial_py_contours_begin.html</a:t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80 秒</a:t>
            </a:r>
          </a:p>
          <a:p xmlns:a="http://schemas.openxmlformats.org/drawingml/2006/main">
            <a:r>
              <a:t>将轮廓矩理解为计算区域分布的一组量，今天只用 m00 和 m10。逐步算出 80 像素的偏移，除以半个画面宽度 160 得到 0.5。这里描述图像坐标，不是偏移了多少厘米。参考中心使用 W 减一再除二，使偶数像素宽度两侧对称。</a:t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https://docs.opencv.org/4.x/dd/d49/tutorial_py_contour_features.html</a:t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75 秒</a:t>
            </a:r>
          </a:p>
          <a:p xmlns:a="http://schemas.openxmlformats.org/drawingml/2006/main">
            <a:r>
              <a:t>逐行对照上一页公式，说明 return None 是无效结果。这个片段省略了前面的输入与轮廓筛选，完整实现在仓库。讨论方向时，必须先约定图像没有镜像且相机朝前。右转的差速车左轮更快，但视觉偏差不是直接可用的电机 PWM 数值。</a:t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https://docs.opencv.org/4.x/dd/d49/tutorial_py_contour_features.html</a:t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65 秒</a:t>
            </a:r>
          </a:p>
          <a:p xmlns:a="http://schemas.openxmlformats.org/drawingml/2006/main">
            <a:r>
              <a:t>问同学：两张图都能算成居中吗？居中有一个可靠目标，丢线没有。用 None 区分缺失的偏差，当前演示建议 STOP。真实机器人还需独立的超时、失效保护和状态机，这里不声称已经实现实车安全控制。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75 秒</a:t>
            </a:r>
          </a:p>
          <a:p xmlns:a="http://schemas.openxmlformats.org/drawingml/2006/main">
            <a:r>
              <a:t>让同学先预测两种阈值的结果。背景灰度 120 大于 80，所以第一次为 0。120 小于等于 160，第二次变为 255，几乎整个 ROI 都成为前景。程序的面积检查返回 ambiguous。可以改善光照、调参数或比较其他分割方式，但应保存失败样例而不是只展示成功图片。</a:t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https://docs.opencv.org/4.x/d7/d4d/tutorial_py_thresholding.html</a:t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预计 70 秒</a:t>
            </a:r>
          </a:p>
          <a:p xmlns:a="http://schemas.openxmlformats.org/drawingml/2006/main">
            <a:r>
              <a:t>给同学十秒手算：79.5 减 159.5 等于负80，除160得负0.5。第二题为 None，并给 STOP 建议。第三题先看二值掩膜。完整内训会让学员补全公式、互测样例并记录失败。最后说明本课的数据是合成教学图，下一步要补真实环境采样与验证。</a:t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https://docs.opencv.org/4.x/d7/d4d/tutorial_py_thresholding.html</a:t>
            </a:r>
          </a:p>
          <a:p xmlns:a="http://schemas.openxmlformats.org/drawingml/2006/main">
            <a:r>
              <a:t>https://docs.opencv.org/4.x/d4/d73/tutorial_py_contours_begin.html</a:t>
            </a:r>
          </a:p>
          <a:p xmlns:a="http://schemas.openxmlformats.org/drawingml/2006/main">
            <a:r>
              <a:t>https://docs.opencv.org/4.x/dd/d49/tutorial_py_contour_features.html</a:t>
            </a:r>
          </a:p>
          <a:p xmlns:a="http://schemas.openxmlformats.org/drawingml/2006/main">
            <a:r>
              <a:t>示意图为课程绘制，图像示例为教学合成场景。未进行实车验证。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316c44b01444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29962b4c64d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2ec7a9bc004f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eb3486f1b49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05441e1274f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d5d8a8b1e49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5906D8-50D5-4581-9901-6D331CAE2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C6CAE0-FF7E-459A-8F7E-834FC9D5978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AA1C7B-6029-4C23-895F-25529C5DB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BFF0B5-194E-4CEE-9039-12EBA69E4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E68914-D99F-4E9C-A722-365AB96A9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66B5A6-A722-4864-9C84-C83A37309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AD4948-D562-4B2E-8EF2-9857C293D0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E4F8047-CEAA-4B5B-8CF5-34379BF1CC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866BA7-BDFB-4FD6-B7CC-4172F231FE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DBA2FE-59E8-4745-A661-32271EC6F7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73bb6b992c4887" /><Relationship Type="http://schemas.openxmlformats.org/officeDocument/2006/relationships/slideLayout" Target="/ppt/slideLayouts/slideLayout1.xml" Id="R5426e3fa810d45af" /><Relationship Type="http://schemas.openxmlformats.org/officeDocument/2006/relationships/slideLayout" Target="/ppt/slideLayouts/slideLayout2.xml" Id="Rc26a9c31ca9d4114" /><Relationship Type="http://schemas.openxmlformats.org/officeDocument/2006/relationships/slideLayout" Target="/ppt/slideLayouts/slideLayout3.xml" Id="R6cb0e74f4993456d" /><Relationship Type="http://schemas.openxmlformats.org/officeDocument/2006/relationships/slideLayout" Target="/ppt/slideLayouts/slideLayout4.xml" Id="Rc11d797228a54e58" /><Relationship Type="http://schemas.openxmlformats.org/officeDocument/2006/relationships/slideLayout" Target="/ppt/slideLayouts/slideLayout5.xml" Id="R6e024c85e0d3499b" /><Relationship Type="http://schemas.openxmlformats.org/officeDocument/2006/relationships/slideLayout" Target="/ppt/slideLayouts/slideLayout6.xml" Id="R6799d393624f49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6e3fa810d45af"/>
    <p:sldLayoutId xmlns:r="http://schemas.openxmlformats.org/officeDocument/2006/relationships" id="2147483650" r:id="Rc26a9c31ca9d4114"/>
    <p:sldLayoutId xmlns:r="http://schemas.openxmlformats.org/officeDocument/2006/relationships" id="2147483651" r:id="R6cb0e74f4993456d"/>
    <p:sldLayoutId xmlns:r="http://schemas.openxmlformats.org/officeDocument/2006/relationships" id="2147483652" r:id="Rc11d797228a54e58"/>
    <p:sldLayoutId xmlns:r="http://schemas.openxmlformats.org/officeDocument/2006/relationships" id="2147483653" r:id="R6e024c85e0d3499b"/>
    <p:sldLayoutId xmlns:r="http://schemas.openxmlformats.org/officeDocument/2006/relationships" id="2147483654" r:id="R6799d393624f49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1972809be4127" /><Relationship Type="http://schemas.openxmlformats.org/officeDocument/2006/relationships/notesSlide" Target="/ppt/notesSlides/notesSlide1.xml" Id="R5e0d8f263225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fe29052cb4a87" /><Relationship Type="http://schemas.openxmlformats.org/officeDocument/2006/relationships/notesSlide" Target="/ppt/notesSlides/notesSlide2.xml" Id="R9d6fe6e9064647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9625d3ed74af9" /><Relationship Type="http://schemas.openxmlformats.org/officeDocument/2006/relationships/notesSlide" Target="/ppt/notesSlides/notesSlide3.xml" Id="R32e7c584142a41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698c56efae406c" /><Relationship Type="http://schemas.openxmlformats.org/officeDocument/2006/relationships/notesSlide" Target="/ppt/notesSlides/notesSlide4.xml" Id="R3b67a0d6e85d4f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583fc1a4b43cd" /><Relationship Type="http://schemas.openxmlformats.org/officeDocument/2006/relationships/notesSlide" Target="/ppt/notesSlides/notesSlide5.xml" Id="R26cbd5dc8dd7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ce9840c784b43" /><Relationship Type="http://schemas.openxmlformats.org/officeDocument/2006/relationships/notesSlide" Target="/ppt/notesSlides/notesSlide6.xml" Id="R4b3523ad5ab84f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96ae3878e4114" /><Relationship Type="http://schemas.openxmlformats.org/officeDocument/2006/relationships/notesSlide" Target="/ppt/notesSlides/notesSlide7.xml" Id="Rc658c9859ff546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db9e23b0848bb" /><Relationship Type="http://schemas.openxmlformats.org/officeDocument/2006/relationships/notesSlide" Target="/ppt/notesSlides/notesSlide8.xml" Id="R6ee0eb317f8e44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95843d9b64c7b" /><Relationship Type="http://schemas.openxmlformats.org/officeDocument/2006/relationships/notesSlide" Target="/ppt/notesSlides/notesSlide9.xml" Id="R755fe2f254654c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1">
            <a:extLst xmlns:a="http://schemas.openxmlformats.org/drawingml/2006/main">
              <a:ext uri="{FF2B5EF4-FFF2-40B4-BE49-F238E27FC236}">
                <a16:creationId xmlns:a16="http://schemas.microsoft.com/office/drawing/2014/main" id="{503AD543-FB39-4716-9A3B-28956377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黑线在画面的哪一边？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4D242338-64FC-4A1B-A95D-CB1479B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161ED8DD-507A-4AC5-8944-8D7AA6C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Python + OpenCV 视觉巡线入门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1AC9E66F-7E7F-4271-81C3-4EF3E30F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苏筱蕙（Victoria Mitsu）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019934A8-DA9B-45F7-A0CA-252E9439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048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EF35C383-FDE8-4F89-89B5-D0373451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28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C47DF948-8C12-4AC8-915E-667C7AEC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左侧</a:t>
            </a:r>
          </a:p>
        </p:txBody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15B1057F-8E68-4AA4-94A9-F0909886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3048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F50F247D-9EDD-47DC-BD7C-74293D93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09900"/>
            <a:ext cx="228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7420DDF6-C2A7-48EC-A1B8-C229B782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959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中间</a:t>
            </a:r>
          </a:p>
        </p:txBody>
      </p:sp>
      <p:sp>
        <p:nvSpPr>
          <p:cNvPr id="11" name="shape-11">
            <a:extLst xmlns:a="http://schemas.openxmlformats.org/drawingml/2006/main">
              <a:ext uri="{FF2B5EF4-FFF2-40B4-BE49-F238E27FC236}">
                <a16:creationId xmlns:a16="http://schemas.microsoft.com/office/drawing/2014/main" id="{94E33323-8CCF-4FD2-B88C-571FC837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048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7D70125B-DE90-4A52-B548-3EE0803B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09900"/>
            <a:ext cx="2286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8DF53793-CC75-46C3-B1BE-3726B660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959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右侧</a:t>
            </a:r>
          </a:p>
        </p:txBody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8D50ACD5-5E89-4C60-95EC-A6485EBC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约 10 分钟   基础场景：浅色背景、单条深色线</a:t>
            </a:r>
          </a:p>
        </p:txBody>
      </p:sp>
    </p:spTree>
    <p:extLst>
      <p:ext uri="{BB962C8B-B14F-4D97-AF65-F5344CB8AC3E}">
        <p14:creationId xmlns:p14="http://schemas.microsoft.com/office/powerpoint/2010/main" val="551511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15">
            <a:extLst xmlns:a="http://schemas.openxmlformats.org/drawingml/2006/main">
              <a:ext uri="{FF2B5EF4-FFF2-40B4-BE49-F238E27FC236}">
                <a16:creationId xmlns:a16="http://schemas.microsoft.com/office/drawing/2014/main" id="{2123F4DF-02E9-4318-8180-977E6AA7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图像坐标与感兴趣区域</a:t>
            </a:r>
          </a:p>
        </p:txBody>
      </p:sp>
      <p:sp>
        <p:nvSpPr>
          <p:cNvPr id="2" name="shape-16">
            <a:extLst xmlns:a="http://schemas.openxmlformats.org/drawingml/2006/main">
              <a:ext uri="{FF2B5EF4-FFF2-40B4-BE49-F238E27FC236}">
                <a16:creationId xmlns:a16="http://schemas.microsoft.com/office/drawing/2014/main" id="{1C5D7555-BC55-4146-B476-92FD9DCC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shape-17">
            <a:extLst xmlns:a="http://schemas.openxmlformats.org/drawingml/2006/main">
              <a:ext uri="{FF2B5EF4-FFF2-40B4-BE49-F238E27FC236}">
                <a16:creationId xmlns:a16="http://schemas.microsoft.com/office/drawing/2014/main" id="{B30FAE9F-4323-4C10-8A2C-9621DA8A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x 向右增大，y 向下增大</a:t>
            </a:r>
          </a:p>
        </p:txBody>
      </p:sp>
      <p:sp>
        <p:nvSpPr>
          <p:cNvPr id="4" name="shape-18">
            <a:extLst xmlns:a="http://schemas.openxmlformats.org/drawingml/2006/main">
              <a:ext uri="{FF2B5EF4-FFF2-40B4-BE49-F238E27FC236}">
                <a16:creationId xmlns:a16="http://schemas.microsoft.com/office/drawing/2014/main" id="{4B848852-AD66-45D9-BC3D-916C9E88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191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5" name="shape-19">
            <a:extLst xmlns:a="http://schemas.openxmlformats.org/drawingml/2006/main">
              <a:ext uri="{FF2B5EF4-FFF2-40B4-BE49-F238E27FC236}">
                <a16:creationId xmlns:a16="http://schemas.microsoft.com/office/drawing/2014/main" id="{DB75E9D6-08B9-4246-91DB-13D25C3E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4191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-20">
            <a:extLst xmlns:a="http://schemas.openxmlformats.org/drawingml/2006/main">
              <a:ext uri="{FF2B5EF4-FFF2-40B4-BE49-F238E27FC236}">
                <a16:creationId xmlns:a16="http://schemas.microsoft.com/office/drawing/2014/main" id="{2B94D4C9-7DE3-403E-BAA4-D64C08BB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247900"/>
            <a:ext cx="314325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ine-21">
            <a:extLst xmlns:a="http://schemas.openxmlformats.org/drawingml/2006/main">
              <a:ext uri="{FF2B5EF4-FFF2-40B4-BE49-F238E27FC236}">
                <a16:creationId xmlns:a16="http://schemas.microsoft.com/office/drawing/2014/main" id="{C1B7AE66-F972-48AC-8978-E039B8EF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4191000" cy="953"/>
          </a:xfrm>
          <a:custGeom xmlns:a="http://schemas.openxmlformats.org/drawingml/2006/main">
            <a:pathLst>
              <a:path w="4191000" h="953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B"/>
            </a:solidFill>
            <a:prstDash val="dash"/>
          </a:ln>
        </p:spPr>
      </p:sp>
      <p:sp>
        <p:nvSpPr>
          <p:cNvPr id="8" name="shape-22">
            <a:extLst xmlns:a="http://schemas.openxmlformats.org/drawingml/2006/main">
              <a:ext uri="{FF2B5EF4-FFF2-40B4-BE49-F238E27FC236}">
                <a16:creationId xmlns:a16="http://schemas.microsoft.com/office/drawing/2014/main" id="{651C0FB5-1B2E-4CA6-B589-08995C9D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原图 320 × 240</a:t>
            </a:r>
          </a:p>
        </p:txBody>
      </p:sp>
      <p:sp>
        <p:nvSpPr>
          <p:cNvPr id="9" name="shape-23">
            <a:extLst xmlns:a="http://schemas.openxmlformats.org/drawingml/2006/main">
              <a:ext uri="{FF2B5EF4-FFF2-40B4-BE49-F238E27FC236}">
                <a16:creationId xmlns:a16="http://schemas.microsoft.com/office/drawing/2014/main" id="{700785B3-CD52-493E-9319-75893B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670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ROI 起点 y = 144</a:t>
            </a:r>
          </a:p>
        </p:txBody>
      </p:sp>
      <p:sp>
        <p:nvSpPr>
          <p:cNvPr id="10" name="shape-24">
            <a:extLst xmlns:a="http://schemas.openxmlformats.org/drawingml/2006/main">
              <a:ext uri="{FF2B5EF4-FFF2-40B4-BE49-F238E27FC236}">
                <a16:creationId xmlns:a16="http://schemas.microsoft.com/office/drawing/2014/main" id="{8B2E8D24-74B4-43EA-935E-E9B6AADB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191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11" name="shape-25">
            <a:extLst xmlns:a="http://schemas.openxmlformats.org/drawingml/2006/main">
              <a:ext uri="{FF2B5EF4-FFF2-40B4-BE49-F238E27FC236}">
                <a16:creationId xmlns:a16="http://schemas.microsoft.com/office/drawing/2014/main" id="{6FF7D3E4-F6BC-4F26-B1F5-793C2AB4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676650"/>
            <a:ext cx="3143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26">
            <a:extLst xmlns:a="http://schemas.openxmlformats.org/drawingml/2006/main">
              <a:ext uri="{FF2B5EF4-FFF2-40B4-BE49-F238E27FC236}">
                <a16:creationId xmlns:a16="http://schemas.microsoft.com/office/drawing/2014/main" id="{F266D3E9-A2A6-4FED-8536-B79F0D4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只取下方 40%，宽度仍为 320</a:t>
            </a:r>
          </a:p>
        </p:txBody>
      </p:sp>
      <p:sp>
        <p:nvSpPr>
          <p:cNvPr id="13" name="shape-27">
            <a:extLst xmlns:a="http://schemas.openxmlformats.org/drawingml/2006/main">
              <a:ext uri="{FF2B5EF4-FFF2-40B4-BE49-F238E27FC236}">
                <a16:creationId xmlns:a16="http://schemas.microsoft.com/office/drawing/2014/main" id="{14B84E76-3D17-4B11-AA96-640AF6B7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05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03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3039"/>
                </a:solidFill>
                <a:latin typeface="Consolas"/>
                <a:ea typeface="Consolas"/>
                <a:cs typeface="Consolas"/>
              </a:rPr>
              <a:t>roi = frame[int(H * 0.6):, :]</a:t>
            </a:r>
          </a:p>
        </p:txBody>
      </p:sp>
      <p:sp>
        <p:nvSpPr>
          <p:cNvPr id="14" name="line-28">
            <a:extLst xmlns:a="http://schemas.openxmlformats.org/drawingml/2006/main">
              <a:ext uri="{FF2B5EF4-FFF2-40B4-BE49-F238E27FC236}">
                <a16:creationId xmlns:a16="http://schemas.microsoft.com/office/drawing/2014/main" id="{54D5ECD9-66EA-465D-ACF6-E20F0C50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952500" cy="953"/>
          </a:xfrm>
          <a:custGeom xmlns:a="http://schemas.openxmlformats.org/drawingml/2006/main">
            <a:pathLst>
              <a:path w="952500" h="953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F7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287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29">
            <a:extLst xmlns:a="http://schemas.openxmlformats.org/drawingml/2006/main">
              <a:ext uri="{FF2B5EF4-FFF2-40B4-BE49-F238E27FC236}">
                <a16:creationId xmlns:a16="http://schemas.microsoft.com/office/drawing/2014/main" id="{08427CA1-8B1F-4B12-A425-D5E050C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反向二值化让黑线成为前景</a:t>
            </a:r>
          </a:p>
        </p:txBody>
      </p:sp>
      <p:sp>
        <p:nvSpPr>
          <p:cNvPr id="2" name="shape-30">
            <a:extLst xmlns:a="http://schemas.openxmlformats.org/drawingml/2006/main">
              <a:ext uri="{FF2B5EF4-FFF2-40B4-BE49-F238E27FC236}">
                <a16:creationId xmlns:a16="http://schemas.microsoft.com/office/drawing/2014/main" id="{D88F049B-E525-46B5-BA8B-7D3FAB71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hape-31">
            <a:extLst xmlns:a="http://schemas.openxmlformats.org/drawingml/2006/main">
              <a:ext uri="{FF2B5EF4-FFF2-40B4-BE49-F238E27FC236}">
                <a16:creationId xmlns:a16="http://schemas.microsoft.com/office/drawing/2014/main" id="{A0506B23-2C44-450B-BE94-94DF3DA8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灰度 ≤ 100：255     灰度 &gt; 100：0</a:t>
            </a:r>
          </a:p>
        </p:txBody>
      </p:sp>
      <p:sp>
        <p:nvSpPr>
          <p:cNvPr id="4" name="shape-32">
            <a:extLst xmlns:a="http://schemas.openxmlformats.org/drawingml/2006/main">
              <a:ext uri="{FF2B5EF4-FFF2-40B4-BE49-F238E27FC236}">
                <a16:creationId xmlns:a16="http://schemas.microsoft.com/office/drawing/2014/main" id="{DF4885C0-5234-4289-9185-16E5362B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191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5" name="shape-33">
            <a:extLst xmlns:a="http://schemas.openxmlformats.org/drawingml/2006/main">
              <a:ext uri="{FF2B5EF4-FFF2-40B4-BE49-F238E27FC236}">
                <a16:creationId xmlns:a16="http://schemas.microsoft.com/office/drawing/2014/main" id="{5D05D5B8-16EC-4249-8988-525AD725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38" y="2200275"/>
            <a:ext cx="3143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-34">
            <a:extLst xmlns:a="http://schemas.openxmlformats.org/drawingml/2006/main">
              <a:ext uri="{FF2B5EF4-FFF2-40B4-BE49-F238E27FC236}">
                <a16:creationId xmlns:a16="http://schemas.microsoft.com/office/drawing/2014/main" id="{570C133E-2698-46ED-ABDC-654DDA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191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7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7" name="shape-35">
            <a:extLst xmlns:a="http://schemas.openxmlformats.org/drawingml/2006/main">
              <a:ext uri="{FF2B5EF4-FFF2-40B4-BE49-F238E27FC236}">
                <a16:creationId xmlns:a16="http://schemas.microsoft.com/office/drawing/2014/main" id="{7F0FC0AB-1750-4839-BDA1-A07B82CA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4088" y="2200275"/>
            <a:ext cx="3143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36">
            <a:extLst xmlns:a="http://schemas.openxmlformats.org/drawingml/2006/main">
              <a:ext uri="{FF2B5EF4-FFF2-40B4-BE49-F238E27FC236}">
                <a16:creationId xmlns:a16="http://schemas.microsoft.com/office/drawing/2014/main" id="{945C7C1C-3924-4C13-BC1C-9A55311B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灰度图：黑线 20，背景 240</a:t>
            </a:r>
          </a:p>
        </p:txBody>
      </p:sp>
      <p:sp>
        <p:nvSpPr>
          <p:cNvPr id="9" name="shape-37">
            <a:extLst xmlns:a="http://schemas.openxmlformats.org/drawingml/2006/main">
              <a:ext uri="{FF2B5EF4-FFF2-40B4-BE49-F238E27FC236}">
                <a16:creationId xmlns:a16="http://schemas.microsoft.com/office/drawing/2014/main" id="{FE5C0AA0-1C3D-4A12-9C60-7C4F1AE1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掩膜：白色表示候选前景</a:t>
            </a:r>
          </a:p>
        </p:txBody>
      </p:sp>
      <p:sp>
        <p:nvSpPr>
          <p:cNvPr id="10" name="shape-38">
            <a:extLst xmlns:a="http://schemas.openxmlformats.org/drawingml/2006/main">
              <a:ext uri="{FF2B5EF4-FFF2-40B4-BE49-F238E27FC236}">
                <a16:creationId xmlns:a16="http://schemas.microsoft.com/office/drawing/2014/main" id="{B16C2898-7BEB-4636-B842-CC7201E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039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3039"/>
                </a:solidFill>
                <a:latin typeface="Consolas"/>
                <a:ea typeface="Consolas"/>
                <a:cs typeface="Consolas"/>
              </a:rPr>
              <a:t>_, mask = cv.threshold(gray, 100, 255,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73039"/>
                </a:solidFill>
                <a:latin typeface="Consolas"/>
                <a:ea typeface="Consolas"/>
                <a:cs typeface="Consolas"/>
              </a:rPr>
              <a:t>                       cv.THRESH_BINARY_INV)</a:t>
            </a:r>
          </a:p>
        </p:txBody>
      </p:sp>
      <p:sp>
        <p:nvSpPr>
          <p:cNvPr id="11" name="line-39">
            <a:extLst xmlns:a="http://schemas.openxmlformats.org/drawingml/2006/main">
              <a:ext uri="{FF2B5EF4-FFF2-40B4-BE49-F238E27FC236}">
                <a16:creationId xmlns:a16="http://schemas.microsoft.com/office/drawing/2014/main" id="{BB4B1DD3-A9AA-47B0-A881-CB3D0421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86125"/>
            <a:ext cx="1047750" cy="953"/>
          </a:xfrm>
          <a:custGeom xmlns:a="http://schemas.openxmlformats.org/drawingml/2006/main">
            <a:pathLst>
              <a:path w="1047750" h="953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F7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1206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40">
            <a:extLst xmlns:a="http://schemas.openxmlformats.org/drawingml/2006/main">
              <a:ext uri="{FF2B5EF4-FFF2-40B4-BE49-F238E27FC236}">
                <a16:creationId xmlns:a16="http://schemas.microsoft.com/office/drawing/2014/main" id="{549D1DD0-D27B-49AE-9D31-74A91DEC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一个候选区域才进入位置计算</a:t>
            </a:r>
          </a:p>
        </p:txBody>
      </p:sp>
      <p:sp>
        <p:nvSpPr>
          <p:cNvPr id="2" name="shape-41">
            <a:extLst xmlns:a="http://schemas.openxmlformats.org/drawingml/2006/main">
              <a:ext uri="{FF2B5EF4-FFF2-40B4-BE49-F238E27FC236}">
                <a16:creationId xmlns:a16="http://schemas.microsoft.com/office/drawing/2014/main" id="{FC357F92-AB84-4097-B42C-20F6A1B6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hape-42">
            <a:extLst xmlns:a="http://schemas.openxmlformats.org/drawingml/2006/main">
              <a:ext uri="{FF2B5EF4-FFF2-40B4-BE49-F238E27FC236}">
                <a16:creationId xmlns:a16="http://schemas.microsoft.com/office/drawing/2014/main" id="{DD77032D-C9B6-45BF-96F9-1AAFAF09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7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4" name="shape-43">
            <a:extLst xmlns:a="http://schemas.openxmlformats.org/drawingml/2006/main">
              <a:ext uri="{FF2B5EF4-FFF2-40B4-BE49-F238E27FC236}">
                <a16:creationId xmlns:a16="http://schemas.microsoft.com/office/drawing/2014/main" id="{79D6BDBC-1496-4090-921E-7995F90B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05025"/>
            <a:ext cx="228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44">
            <a:extLst xmlns:a="http://schemas.openxmlformats.org/drawingml/2006/main">
              <a:ext uri="{FF2B5EF4-FFF2-40B4-BE49-F238E27FC236}">
                <a16:creationId xmlns:a16="http://schemas.microsoft.com/office/drawing/2014/main" id="{414CD232-CED6-45D6-9945-517C1F9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7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6" name="shape-45">
            <a:extLst xmlns:a="http://schemas.openxmlformats.org/drawingml/2006/main">
              <a:ext uri="{FF2B5EF4-FFF2-40B4-BE49-F238E27FC236}">
                <a16:creationId xmlns:a16="http://schemas.microsoft.com/office/drawing/2014/main" id="{53D24C1F-4E7B-4B52-8D60-951C948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05025"/>
            <a:ext cx="228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46">
            <a:extLst xmlns:a="http://schemas.openxmlformats.org/drawingml/2006/main">
              <a:ext uri="{FF2B5EF4-FFF2-40B4-BE49-F238E27FC236}">
                <a16:creationId xmlns:a16="http://schemas.microsoft.com/office/drawing/2014/main" id="{B2F63DEB-95C0-4747-87E7-81D617D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05025"/>
            <a:ext cx="228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47">
            <a:extLst xmlns:a="http://schemas.openxmlformats.org/drawingml/2006/main">
              <a:ext uri="{FF2B5EF4-FFF2-40B4-BE49-F238E27FC236}">
                <a16:creationId xmlns:a16="http://schemas.microsoft.com/office/drawing/2014/main" id="{8E271DEA-9B6D-454B-94B9-DA75FBF0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04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7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9" name="shape-48">
            <a:extLst xmlns:a="http://schemas.openxmlformats.org/drawingml/2006/main">
              <a:ext uri="{FF2B5EF4-FFF2-40B4-BE49-F238E27FC236}">
                <a16:creationId xmlns:a16="http://schemas.microsoft.com/office/drawing/2014/main" id="{50B394E6-3B08-4020-9361-4CE87CA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01168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49">
            <a:extLst xmlns:a="http://schemas.openxmlformats.org/drawingml/2006/main">
              <a:ext uri="{FF2B5EF4-FFF2-40B4-BE49-F238E27FC236}">
                <a16:creationId xmlns:a16="http://schemas.microsoft.com/office/drawing/2014/main" id="{E38E97E9-EFD5-4671-B1DE-2CF6CC15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05025"/>
            <a:ext cx="228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50">
            <a:extLst xmlns:a="http://schemas.openxmlformats.org/drawingml/2006/main">
              <a:ext uri="{FF2B5EF4-FFF2-40B4-BE49-F238E27FC236}">
                <a16:creationId xmlns:a16="http://schemas.microsoft.com/office/drawing/2014/main" id="{606E4ECA-673B-480B-96C5-C615C3F6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单个合理区域</a:t>
            </a:r>
          </a:p>
        </p:txBody>
      </p:sp>
      <p:sp>
        <p:nvSpPr>
          <p:cNvPr id="12" name="shape-51">
            <a:extLst xmlns:a="http://schemas.openxmlformats.org/drawingml/2006/main">
              <a:ext uri="{FF2B5EF4-FFF2-40B4-BE49-F238E27FC236}">
                <a16:creationId xmlns:a16="http://schemas.microsoft.com/office/drawing/2014/main" id="{3DF6553A-8A3A-4DD6-9123-87D19A4A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52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rPr>
              <a:t>多个明显区域</a:t>
            </a:r>
          </a:p>
        </p:txBody>
      </p:sp>
      <p:sp>
        <p:nvSpPr>
          <p:cNvPr id="13" name="shape-52">
            <a:extLst xmlns:a="http://schemas.openxmlformats.org/drawingml/2006/main">
              <a:ext uri="{FF2B5EF4-FFF2-40B4-BE49-F238E27FC236}">
                <a16:creationId xmlns:a16="http://schemas.microsoft.com/office/drawing/2014/main" id="{9A8AC0E6-3ADC-4D57-8DDA-06B6331C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rPr>
              <a:t>阴影干扰</a:t>
            </a:r>
          </a:p>
        </p:txBody>
      </p:sp>
      <p:sp>
        <p:nvSpPr>
          <p:cNvPr id="14" name="shape-53">
            <a:extLst xmlns:a="http://schemas.openxmlformats.org/drawingml/2006/main">
              <a:ext uri="{FF2B5EF4-FFF2-40B4-BE49-F238E27FC236}">
                <a16:creationId xmlns:a16="http://schemas.microsoft.com/office/drawing/2014/main" id="{B309A9A7-D48B-4B01-9B01-144D631D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面积、宽度与候选数量共同约束本例的输入</a:t>
            </a:r>
          </a:p>
        </p:txBody>
      </p:sp>
      <p:sp>
        <p:nvSpPr>
          <p:cNvPr id="15" name="shape-54">
            <a:extLst xmlns:a="http://schemas.openxmlformats.org/drawingml/2006/main">
              <a:ext uri="{FF2B5EF4-FFF2-40B4-BE49-F238E27FC236}">
                <a16:creationId xmlns:a16="http://schemas.microsoft.com/office/drawing/2014/main" id="{6BF3D155-F167-423A-8750-8AF5996A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只选“最大的轮廓”，仍可能把阴影认成黑线</a:t>
            </a:r>
          </a:p>
        </p:txBody>
      </p:sp>
    </p:spTree>
    <p:extLst>
      <p:ext uri="{BB962C8B-B14F-4D97-AF65-F5344CB8AC3E}">
        <p14:creationId xmlns:p14="http://schemas.microsoft.com/office/powerpoint/2010/main" val="1282164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55">
            <a:extLst xmlns:a="http://schemas.openxmlformats.org/drawingml/2006/main">
              <a:ext uri="{FF2B5EF4-FFF2-40B4-BE49-F238E27FC236}">
                <a16:creationId xmlns:a16="http://schemas.microsoft.com/office/drawing/2014/main" id="{AD143521-7BBD-4CEF-8A7A-27047F1E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质心给出横向位置</a:t>
            </a:r>
          </a:p>
        </p:txBody>
      </p:sp>
      <p:sp>
        <p:nvSpPr>
          <p:cNvPr id="2" name="shape-56">
            <a:extLst xmlns:a="http://schemas.openxmlformats.org/drawingml/2006/main">
              <a:ext uri="{FF2B5EF4-FFF2-40B4-BE49-F238E27FC236}">
                <a16:creationId xmlns:a16="http://schemas.microsoft.com/office/drawing/2014/main" id="{C0703CB5-B74A-4AAC-B0F1-F4AFBB63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shape-57">
            <a:extLst xmlns:a="http://schemas.openxmlformats.org/drawingml/2006/main">
              <a:ext uri="{FF2B5EF4-FFF2-40B4-BE49-F238E27FC236}">
                <a16:creationId xmlns:a16="http://schemas.microsoft.com/office/drawing/2014/main" id="{8F1A736C-CB67-4DF2-A353-023EA941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7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87F7B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087F7B"/>
                </a:solidFill>
                <a:latin typeface="Consolas"/>
                <a:ea typeface="Consolas"/>
                <a:cs typeface="Consolas"/>
              </a:rPr>
              <a:t>cx = m10 / m00</a:t>
            </a:r>
          </a:p>
        </p:txBody>
      </p:sp>
      <p:sp>
        <p:nvSpPr>
          <p:cNvPr id="4" name="shape-58">
            <a:extLst xmlns:a="http://schemas.openxmlformats.org/drawingml/2006/main">
              <a:ext uri="{FF2B5EF4-FFF2-40B4-BE49-F238E27FC236}">
                <a16:creationId xmlns:a16="http://schemas.microsoft.com/office/drawing/2014/main" id="{372A3953-6898-4895-9BFD-0D572438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6096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5" name="shape-59">
            <a:extLst xmlns:a="http://schemas.openxmlformats.org/drawingml/2006/main">
              <a:ext uri="{FF2B5EF4-FFF2-40B4-BE49-F238E27FC236}">
                <a16:creationId xmlns:a16="http://schemas.microsoft.com/office/drawing/2014/main" id="{71632EE6-8416-4BFB-84AE-6316703A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66975"/>
            <a:ext cx="457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ine-60">
            <a:extLst xmlns:a="http://schemas.openxmlformats.org/drawingml/2006/main">
              <a:ext uri="{FF2B5EF4-FFF2-40B4-BE49-F238E27FC236}">
                <a16:creationId xmlns:a16="http://schemas.microsoft.com/office/drawing/2014/main" id="{374F1438-4DBD-4029-9873-956A28C7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953" cy="2286000"/>
          </a:xfrm>
          <a:custGeom xmlns:a="http://schemas.openxmlformats.org/drawingml/2006/main">
            <a:pathLst>
              <a:path w="953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37"/>
            </a:solidFill>
            <a:prstDash val="dash"/>
          </a:ln>
        </p:spPr>
      </p:sp>
      <p:sp>
        <p:nvSpPr>
          <p:cNvPr id="7" name="line-61">
            <a:extLst xmlns:a="http://schemas.openxmlformats.org/drawingml/2006/main">
              <a:ext uri="{FF2B5EF4-FFF2-40B4-BE49-F238E27FC236}">
                <a16:creationId xmlns:a16="http://schemas.microsoft.com/office/drawing/2014/main" id="{EA9D9E5D-D288-4F72-90BC-C340D6EE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457450"/>
            <a:ext cx="953" cy="2286000"/>
          </a:xfrm>
          <a:custGeom xmlns:a="http://schemas.openxmlformats.org/drawingml/2006/main">
            <a:pathLst>
              <a:path w="953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F7B"/>
            </a:solidFill>
            <a:prstDash val="solid"/>
          </a:ln>
        </p:spPr>
      </p:sp>
      <p:sp>
        <p:nvSpPr>
          <p:cNvPr id="8" name="shape-62">
            <a:extLst xmlns:a="http://schemas.openxmlformats.org/drawingml/2006/main">
              <a:ext uri="{FF2B5EF4-FFF2-40B4-BE49-F238E27FC236}">
                <a16:creationId xmlns:a16="http://schemas.microsoft.com/office/drawing/2014/main" id="{50F144C4-27B1-4C42-9C68-10CFEC24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530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C9673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C96737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C96737"/>
                </a:solidFill>
                <a:latin typeface="Consolas"/>
                <a:ea typeface="Consolas"/>
                <a:cs typeface="Consolas"/>
              </a:rPr>
              <a:t>159.5</a:t>
            </a:r>
          </a:p>
        </p:txBody>
      </p:sp>
      <p:sp>
        <p:nvSpPr>
          <p:cNvPr id="9" name="shape-63">
            <a:extLst xmlns:a="http://schemas.openxmlformats.org/drawingml/2006/main">
              <a:ext uri="{FF2B5EF4-FFF2-40B4-BE49-F238E27FC236}">
                <a16:creationId xmlns:a16="http://schemas.microsoft.com/office/drawing/2014/main" id="{99F8CF1F-5F66-4D6C-95EC-C8F53906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7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7F7B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087F7B"/>
                </a:solidFill>
                <a:latin typeface="Consolas"/>
                <a:ea typeface="Consolas"/>
                <a:cs typeface="Consolas"/>
              </a:rPr>
              <a:t>239.5</a:t>
            </a:r>
          </a:p>
        </p:txBody>
      </p:sp>
      <p:sp>
        <p:nvSpPr>
          <p:cNvPr id="10" name="shape-64">
            <a:extLst xmlns:a="http://schemas.openxmlformats.org/drawingml/2006/main">
              <a:ext uri="{FF2B5EF4-FFF2-40B4-BE49-F238E27FC236}">
                <a16:creationId xmlns:a16="http://schemas.microsoft.com/office/drawing/2014/main" id="{BE7C0330-00F6-4FED-83FD-AC7D313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10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参考中心</a:t>
            </a:r>
          </a:p>
        </p:txBody>
      </p:sp>
      <p:sp>
        <p:nvSpPr>
          <p:cNvPr id="11" name="shape-65">
            <a:extLst xmlns:a="http://schemas.openxmlformats.org/drawingml/2006/main">
              <a:ext uri="{FF2B5EF4-FFF2-40B4-BE49-F238E27FC236}">
                <a16:creationId xmlns:a16="http://schemas.microsoft.com/office/drawing/2014/main" id="{1271C565-F8A7-4126-B7DE-6E5F5728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10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黑线质心</a:t>
            </a:r>
          </a:p>
        </p:txBody>
      </p:sp>
      <p:sp>
        <p:nvSpPr>
          <p:cNvPr id="12" name="shape-66">
            <a:extLst xmlns:a="http://schemas.openxmlformats.org/drawingml/2006/main">
              <a:ext uri="{FF2B5EF4-FFF2-40B4-BE49-F238E27FC236}">
                <a16:creationId xmlns:a16="http://schemas.microsoft.com/office/drawing/2014/main" id="{BB7737F0-BE57-40A0-88D3-7796D31C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3905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W = 320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中心 = 159.5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cx = 239.5</a:t>
            </a:r>
          </a:p>
        </p:txBody>
      </p:sp>
      <p:sp>
        <p:nvSpPr>
          <p:cNvPr id="13" name="shape-67">
            <a:extLst xmlns:a="http://schemas.openxmlformats.org/drawingml/2006/main">
              <a:ext uri="{FF2B5EF4-FFF2-40B4-BE49-F238E27FC236}">
                <a16:creationId xmlns:a16="http://schemas.microsoft.com/office/drawing/2014/main" id="{4E7F7970-4ADB-4A30-B188-AC8824A6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7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087F7B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87F7B"/>
                </a:solidFill>
                <a:latin typeface="Consolas"/>
                <a:ea typeface="Consolas"/>
                <a:cs typeface="Consolas"/>
              </a:rPr>
              <a:t>e = (239.5 - 159.5) / 160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087F7B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87F7B"/>
                </a:solidFill>
                <a:latin typeface="Consolas"/>
                <a:ea typeface="Consolas"/>
                <a:cs typeface="Consolas"/>
              </a:rPr>
              <a:t>  = +0.5</a:t>
            </a:r>
          </a:p>
        </p:txBody>
      </p:sp>
      <p:sp>
        <p:nvSpPr>
          <p:cNvPr id="14" name="shape-68">
            <a:extLst xmlns:a="http://schemas.openxmlformats.org/drawingml/2006/main">
              <a:ext uri="{FF2B5EF4-FFF2-40B4-BE49-F238E27FC236}">
                <a16:creationId xmlns:a16="http://schemas.microsoft.com/office/drawing/2014/main" id="{E204EC5B-C4C0-4520-B371-EA1C1021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计算前检查 m00 &gt; 0，避免除零</a:t>
            </a:r>
          </a:p>
        </p:txBody>
      </p:sp>
    </p:spTree>
    <p:extLst>
      <p:ext uri="{BB962C8B-B14F-4D97-AF65-F5344CB8AC3E}">
        <p14:creationId xmlns:p14="http://schemas.microsoft.com/office/powerpoint/2010/main" val="2308293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69">
            <a:extLst xmlns:a="http://schemas.openxmlformats.org/drawingml/2006/main">
              <a:ext uri="{FF2B5EF4-FFF2-40B4-BE49-F238E27FC236}">
                <a16:creationId xmlns:a16="http://schemas.microsoft.com/office/drawing/2014/main" id="{A83C0610-8345-4F41-938B-3C6AF1DC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偏差的计算与符号</a:t>
            </a:r>
          </a:p>
        </p:txBody>
      </p:sp>
      <p:sp>
        <p:nvSpPr>
          <p:cNvPr id="2" name="shape-70">
            <a:extLst xmlns:a="http://schemas.openxmlformats.org/drawingml/2006/main">
              <a:ext uri="{FF2B5EF4-FFF2-40B4-BE49-F238E27FC236}">
                <a16:creationId xmlns:a16="http://schemas.microsoft.com/office/drawing/2014/main" id="{7FE3908F-7DAA-473C-BF07-A6CE8CB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shape-71">
            <a:extLst xmlns:a="http://schemas.openxmlformats.org/drawingml/2006/main">
              <a:ext uri="{FF2B5EF4-FFF2-40B4-BE49-F238E27FC236}">
                <a16:creationId xmlns:a16="http://schemas.microsoft.com/office/drawing/2014/main" id="{FEB898F1-AF5F-48E3-B4FD-4CE9C877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810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ape-72">
            <a:extLst xmlns:a="http://schemas.openxmlformats.org/drawingml/2006/main">
              <a:ext uri="{FF2B5EF4-FFF2-40B4-BE49-F238E27FC236}">
                <a16:creationId xmlns:a16="http://schemas.microsoft.com/office/drawing/2014/main" id="{A53182A8-F9CC-4D7A-9FD3-E6531F56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63531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7F7F2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7F7F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7F2"/>
                </a:solidFill>
                <a:latin typeface="Consolas"/>
                <a:ea typeface="Consolas"/>
                <a:cs typeface="Consolas"/>
              </a:rPr>
              <a:t>M = cv.moments(contour)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7F7F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7F2"/>
                </a:solidFill>
                <a:latin typeface="Consolas"/>
                <a:ea typeface="Consolas"/>
                <a:cs typeface="Consolas"/>
              </a:rPr>
              <a:t>if M["m00"] &lt;= 0: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7F7F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7F2"/>
                </a:solidFill>
                <a:latin typeface="Consolas"/>
                <a:ea typeface="Consolas"/>
                <a:cs typeface="Consolas"/>
              </a:rPr>
              <a:t>    return None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7F7F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7F2"/>
                </a:solidFill>
                <a:latin typeface="Consolas"/>
                <a:ea typeface="Consolas"/>
                <a:cs typeface="Consolas"/>
              </a:rPr>
              <a:t>cx = M["m10"] / M["m00"]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7F7F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7F2"/>
                </a:solidFill>
                <a:latin typeface="Consolas"/>
                <a:ea typeface="Consolas"/>
                <a:cs typeface="Consolas"/>
              </a:rPr>
              <a:t>center = (W - 1) / 2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7F7F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7F2"/>
                </a:solidFill>
                <a:latin typeface="Consolas"/>
                <a:ea typeface="Consolas"/>
                <a:cs typeface="Consolas"/>
              </a:rPr>
              <a:t>e = (cx - center) / (W / 2)</a:t>
            </a:r>
          </a:p>
        </p:txBody>
      </p:sp>
      <p:sp>
        <p:nvSpPr>
          <p:cNvPr id="5" name="shape-73">
            <a:extLst xmlns:a="http://schemas.openxmlformats.org/drawingml/2006/main">
              <a:ext uri="{FF2B5EF4-FFF2-40B4-BE49-F238E27FC236}">
                <a16:creationId xmlns:a16="http://schemas.microsoft.com/office/drawing/2014/main" id="{73F53BE9-D5FA-4344-A3B3-D03F3A99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524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e &lt; 0：黑线在左侧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e = 0：黑线居中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e &gt; 0：黑线在右侧</a:t>
            </a:r>
          </a:p>
        </p:txBody>
      </p:sp>
      <p:sp>
        <p:nvSpPr>
          <p:cNvPr id="6" name="shape-74">
            <a:extLst xmlns:a="http://schemas.openxmlformats.org/drawingml/2006/main">
              <a:ext uri="{FF2B5EF4-FFF2-40B4-BE49-F238E27FC236}">
                <a16:creationId xmlns:a16="http://schemas.microsoft.com/office/drawing/2014/main" id="{449257AC-A308-4053-8838-25714958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代码片段位于候选筛选之后</a:t>
            </a:r>
          </a:p>
        </p:txBody>
      </p:sp>
      <p:sp>
        <p:nvSpPr>
          <p:cNvPr id="7" name="shape-75">
            <a:extLst xmlns:a="http://schemas.openxmlformats.org/drawingml/2006/main">
              <a:ext uri="{FF2B5EF4-FFF2-40B4-BE49-F238E27FC236}">
                <a16:creationId xmlns:a16="http://schemas.microsoft.com/office/drawing/2014/main" id="{E43A13FE-AE12-4F4F-998B-BF78723A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0075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本课先输出方向建议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接入车辆前验证镜像与左右轮定义</a:t>
            </a:r>
          </a:p>
        </p:txBody>
      </p:sp>
    </p:spTree>
    <p:extLst>
      <p:ext uri="{BB962C8B-B14F-4D97-AF65-F5344CB8AC3E}">
        <p14:creationId xmlns:p14="http://schemas.microsoft.com/office/powerpoint/2010/main" val="12993147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76">
            <a:extLst xmlns:a="http://schemas.openxmlformats.org/drawingml/2006/main">
              <a:ext uri="{FF2B5EF4-FFF2-40B4-BE49-F238E27FC236}">
                <a16:creationId xmlns:a16="http://schemas.microsoft.com/office/drawing/2014/main" id="{1D29C464-2B40-4BF1-8F63-F4A8DF3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居中与丢线需要不同的输出</a:t>
            </a:r>
          </a:p>
        </p:txBody>
      </p:sp>
      <p:sp>
        <p:nvSpPr>
          <p:cNvPr id="2" name="shape-77">
            <a:extLst xmlns:a="http://schemas.openxmlformats.org/drawingml/2006/main">
              <a:ext uri="{FF2B5EF4-FFF2-40B4-BE49-F238E27FC236}">
                <a16:creationId xmlns:a16="http://schemas.microsoft.com/office/drawing/2014/main" id="{B0E58DFB-DA6C-40F4-A704-B96B9D7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2104D-68BE-4572-9ADA-D9A23DBBA222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857500"/>
                <a:gridCol w="4114800"/>
              </a:tblGrid>
              <a:tr h="595313"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检测状态</a:t>
                      </a:r>
                    </a:p>
                  </a:txBody>
                  <a:tcPr marL="91440" marR="91440" marT="45720" marB="45720" anchor="ctr">
                    <a:solidFill>
                      <a:srgbClr val="E2EAE6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</a:t>
                      </a:r>
                    </a:p>
                  </a:txBody>
                  <a:tcPr marL="91440" marR="91440" marT="45720" marB="45720" anchor="ctr">
                    <a:solidFill>
                      <a:srgbClr val="E2EAE6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方向建议</a:t>
                      </a:r>
                    </a:p>
                  </a:txBody>
                  <a:tcPr marL="91440" marR="91440" marT="45720" marB="45720" anchor="ctr">
                    <a:solidFill>
                      <a:srgbClr val="E2EAE6"/>
                    </a:solidFill>
                  </a:tcPr>
                </a:tc>
              </a:tr>
              <a:tr h="595313"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单条线居中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接近 0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STRAIGHT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</a:tr>
              <a:tr h="595313"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没有明显黑线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None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</a:tr>
              <a:tr h="595313"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多个明显候选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None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  <a:tc>
                  <a:txBody>
                    <a:bodyPr wrap="square" lIns="171450" tIns="76200" rIns="114300" bIns="762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730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STOP</a:t>
                      </a:r>
                    </a:p>
                  </a:txBody>
                  <a:tcPr marL="91440" marR="91440" marT="45720" marB="45720" anchor="ctr">
                    <a:solidFill>
                      <a:srgbClr val="F7F7F2"/>
                    </a:solidFill>
                  </a:tcPr>
                </a:tc>
              </a:tr>
            </a:tbl>
          </a:graphicData>
        </a:graphic>
      </p:graphicFrame>
      <p:sp>
        <p:nvSpPr>
          <p:cNvPr id="4" name="shape-78">
            <a:extLst xmlns:a="http://schemas.openxmlformats.org/drawingml/2006/main">
              <a:ext uri="{FF2B5EF4-FFF2-40B4-BE49-F238E27FC236}">
                <a16:creationId xmlns:a16="http://schemas.microsoft.com/office/drawing/2014/main" id="{8F76E557-4280-48CC-8B0B-09EBC2D9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714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5" name="shape-79">
            <a:extLst xmlns:a="http://schemas.openxmlformats.org/drawingml/2006/main">
              <a:ext uri="{FF2B5EF4-FFF2-40B4-BE49-F238E27FC236}">
                <a16:creationId xmlns:a16="http://schemas.microsoft.com/office/drawing/2014/main" id="{075E8043-2AAB-4278-87EE-188096B7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114" y="4600575"/>
            <a:ext cx="203597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-80">
            <a:extLst xmlns:a="http://schemas.openxmlformats.org/drawingml/2006/main">
              <a:ext uri="{FF2B5EF4-FFF2-40B4-BE49-F238E27FC236}">
                <a16:creationId xmlns:a16="http://schemas.microsoft.com/office/drawing/2014/main" id="{13E1C0D7-4ACF-4EA2-874E-AC8ED009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2714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7" name="shape-81">
            <a:extLst xmlns:a="http://schemas.openxmlformats.org/drawingml/2006/main">
              <a:ext uri="{FF2B5EF4-FFF2-40B4-BE49-F238E27FC236}">
                <a16:creationId xmlns:a16="http://schemas.microsoft.com/office/drawing/2014/main" id="{CAED7C3F-33CD-40F3-A56E-6AFD91C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482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rPr>
              <a:t>同样输出 0 会掩盖丢线</a:t>
            </a:r>
          </a:p>
        </p:txBody>
      </p:sp>
      <p:sp>
        <p:nvSpPr>
          <p:cNvPr id="8" name="shape-82">
            <a:extLst xmlns:a="http://schemas.openxmlformats.org/drawingml/2006/main">
              <a:ext uri="{FF2B5EF4-FFF2-40B4-BE49-F238E27FC236}">
                <a16:creationId xmlns:a16="http://schemas.microsoft.com/office/drawing/2014/main" id="{5F3A2852-6190-44FD-81B5-1319BC03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054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无效结果需要独立状态</a:t>
            </a:r>
          </a:p>
        </p:txBody>
      </p:sp>
    </p:spTree>
    <p:extLst>
      <p:ext uri="{BB962C8B-B14F-4D97-AF65-F5344CB8AC3E}">
        <p14:creationId xmlns:p14="http://schemas.microsoft.com/office/powerpoint/2010/main" val="1879393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83">
            <a:extLst xmlns:a="http://schemas.openxmlformats.org/drawingml/2006/main">
              <a:ext uri="{FF2B5EF4-FFF2-40B4-BE49-F238E27FC236}">
                <a16:creationId xmlns:a16="http://schemas.microsoft.com/office/drawing/2014/main" id="{15A0D3FA-0A92-47AA-B565-7507F0E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改变阈值，观察失败的原因</a:t>
            </a:r>
          </a:p>
        </p:txBody>
      </p:sp>
      <p:sp>
        <p:nvSpPr>
          <p:cNvPr id="2" name="shape-84">
            <a:extLst xmlns:a="http://schemas.openxmlformats.org/drawingml/2006/main">
              <a:ext uri="{FF2B5EF4-FFF2-40B4-BE49-F238E27FC236}">
                <a16:creationId xmlns:a16="http://schemas.microsoft.com/office/drawing/2014/main" id="{D023B548-0408-4FD5-878A-E48CB78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shape-85">
            <a:extLst xmlns:a="http://schemas.openxmlformats.org/drawingml/2006/main">
              <a:ext uri="{FF2B5EF4-FFF2-40B4-BE49-F238E27FC236}">
                <a16:creationId xmlns:a16="http://schemas.microsoft.com/office/drawing/2014/main" id="{4A798CD2-7657-41A5-B4DB-111717D1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同一张图：背景灰度 120，黑线灰度 20</a:t>
            </a:r>
          </a:p>
        </p:txBody>
      </p:sp>
      <p:sp>
        <p:nvSpPr>
          <p:cNvPr id="4" name="shape-86">
            <a:extLst xmlns:a="http://schemas.openxmlformats.org/drawingml/2006/main">
              <a:ext uri="{FF2B5EF4-FFF2-40B4-BE49-F238E27FC236}">
                <a16:creationId xmlns:a16="http://schemas.microsoft.com/office/drawing/2014/main" id="{0B436D72-91F7-4AD9-B294-DD3BFBFA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4191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7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5" name="shape-87">
            <a:extLst xmlns:a="http://schemas.openxmlformats.org/drawingml/2006/main">
              <a:ext uri="{FF2B5EF4-FFF2-40B4-BE49-F238E27FC236}">
                <a16:creationId xmlns:a16="http://schemas.microsoft.com/office/drawing/2014/main" id="{236D753D-09CF-4C2E-92DB-2560F0E5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2266950"/>
            <a:ext cx="314325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-88">
            <a:extLst xmlns:a="http://schemas.openxmlformats.org/drawingml/2006/main">
              <a:ext uri="{FF2B5EF4-FFF2-40B4-BE49-F238E27FC236}">
                <a16:creationId xmlns:a16="http://schemas.microsoft.com/office/drawing/2014/main" id="{B01370CA-388A-4209-8E96-6F7D5812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4191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7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7" name="shape-89">
            <a:extLst xmlns:a="http://schemas.openxmlformats.org/drawingml/2006/main">
              <a:ext uri="{FF2B5EF4-FFF2-40B4-BE49-F238E27FC236}">
                <a16:creationId xmlns:a16="http://schemas.microsoft.com/office/drawing/2014/main" id="{046857CA-6338-438C-AE5F-E46A42D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66950"/>
            <a:ext cx="4171950" cy="2219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90">
            <a:extLst xmlns:a="http://schemas.openxmlformats.org/drawingml/2006/main">
              <a:ext uri="{FF2B5EF4-FFF2-40B4-BE49-F238E27FC236}">
                <a16:creationId xmlns:a16="http://schemas.microsoft.com/office/drawing/2014/main" id="{37F821A8-78E0-4411-A8E0-55BB0CA9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阈值 80：背景仍为 0</a:t>
            </a:r>
          </a:p>
        </p:txBody>
      </p:sp>
      <p:sp>
        <p:nvSpPr>
          <p:cNvPr id="9" name="shape-91">
            <a:extLst xmlns:a="http://schemas.openxmlformats.org/drawingml/2006/main">
              <a:ext uri="{FF2B5EF4-FFF2-40B4-BE49-F238E27FC236}">
                <a16:creationId xmlns:a16="http://schemas.microsoft.com/office/drawing/2014/main" id="{7A9793E2-8A32-4009-86E9-8957A38C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2440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96737"/>
                </a:solidFill>
                <a:latin typeface="Microsoft YaHei"/>
                <a:ea typeface="Microsoft YaHei"/>
                <a:cs typeface="Microsoft YaHei"/>
              </a:rPr>
              <a:t>阈值 160：背景也成为前景</a:t>
            </a:r>
          </a:p>
        </p:txBody>
      </p:sp>
      <p:sp>
        <p:nvSpPr>
          <p:cNvPr id="10" name="shape-92">
            <a:extLst xmlns:a="http://schemas.openxmlformats.org/drawingml/2006/main">
              <a:ext uri="{FF2B5EF4-FFF2-40B4-BE49-F238E27FC236}">
                <a16:creationId xmlns:a16="http://schemas.microsoft.com/office/drawing/2014/main" id="{010C9D4B-B0F6-42F2-8F80-23667566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先查看掩膜，再解释面积检查为什么拒绝结果</a:t>
            </a:r>
          </a:p>
        </p:txBody>
      </p:sp>
      <p:sp>
        <p:nvSpPr>
          <p:cNvPr id="11" name="shape-93">
            <a:extLst xmlns:a="http://schemas.openxmlformats.org/drawingml/2006/main">
              <a:ext uri="{FF2B5EF4-FFF2-40B4-BE49-F238E27FC236}">
                <a16:creationId xmlns:a16="http://schemas.microsoft.com/office/drawing/2014/main" id="{59D15043-BC73-43CA-B076-89A49CC0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实验时一次只改一个条件，并记录阈值与检测状态</a:t>
            </a:r>
          </a:p>
        </p:txBody>
      </p:sp>
    </p:spTree>
    <p:extLst>
      <p:ext uri="{BB962C8B-B14F-4D97-AF65-F5344CB8AC3E}">
        <p14:creationId xmlns:p14="http://schemas.microsoft.com/office/powerpoint/2010/main" val="5821934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94">
            <a:extLst xmlns:a="http://schemas.openxmlformats.org/drawingml/2006/main">
              <a:ext uri="{FF2B5EF4-FFF2-40B4-BE49-F238E27FC236}">
                <a16:creationId xmlns:a16="http://schemas.microsoft.com/office/drawing/2014/main" id="{15E735A2-1F8E-40A4-81D2-7EF50BA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当堂检查与练习</a:t>
            </a:r>
          </a:p>
        </p:txBody>
      </p:sp>
      <p:sp>
        <p:nvSpPr>
          <p:cNvPr id="2" name="shape-95">
            <a:extLst xmlns:a="http://schemas.openxmlformats.org/drawingml/2006/main">
              <a:ext uri="{FF2B5EF4-FFF2-40B4-BE49-F238E27FC236}">
                <a16:creationId xmlns:a16="http://schemas.microsoft.com/office/drawing/2014/main" id="{20FFAC04-EB1E-4F58-99F5-EF097357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shape-96">
            <a:extLst xmlns:a="http://schemas.openxmlformats.org/drawingml/2006/main">
              <a:ext uri="{FF2B5EF4-FFF2-40B4-BE49-F238E27FC236}">
                <a16:creationId xmlns:a16="http://schemas.microsoft.com/office/drawing/2014/main" id="{D5719AA8-07AF-424C-8511-DE56B61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619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4C1"/>
            </a:solidFill>
            <a:prstDash val="solid"/>
          </a:ln>
        </p:spPr>
      </p:sp>
      <p:sp>
        <p:nvSpPr>
          <p:cNvPr id="4" name="shape-97">
            <a:extLst xmlns:a="http://schemas.openxmlformats.org/drawingml/2006/main">
              <a:ext uri="{FF2B5EF4-FFF2-40B4-BE49-F238E27FC236}">
                <a16:creationId xmlns:a16="http://schemas.microsoft.com/office/drawing/2014/main" id="{7C06938D-02C9-463B-9CD5-40F817C9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744" y="1962150"/>
            <a:ext cx="271463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ne-98">
            <a:extLst xmlns:a="http://schemas.openxmlformats.org/drawingml/2006/main">
              <a:ext uri="{FF2B5EF4-FFF2-40B4-BE49-F238E27FC236}">
                <a16:creationId xmlns:a16="http://schemas.microsoft.com/office/drawing/2014/main" id="{A0305566-34FB-4528-8638-38B10227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52625"/>
            <a:ext cx="953" cy="2714625"/>
          </a:xfrm>
          <a:custGeom xmlns:a="http://schemas.openxmlformats.org/drawingml/2006/main">
            <a:pathLst>
              <a:path w="953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6737"/>
            </a:solidFill>
            <a:prstDash val="dash"/>
          </a:ln>
        </p:spPr>
      </p:sp>
      <p:sp>
        <p:nvSpPr>
          <p:cNvPr id="6" name="shape-99">
            <a:extLst xmlns:a="http://schemas.openxmlformats.org/drawingml/2006/main">
              <a:ext uri="{FF2B5EF4-FFF2-40B4-BE49-F238E27FC236}">
                <a16:creationId xmlns:a16="http://schemas.microsoft.com/office/drawing/2014/main" id="{5B008AFA-D6E0-4524-8E3A-2E2C5A58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7B"/>
                </a:solidFill>
                <a:latin typeface="Microsoft YaHei"/>
                <a:ea typeface="Microsoft YaHei"/>
                <a:cs typeface="Microsoft YaHei"/>
              </a:rPr>
              <a:t>W = 320，cx = 79.5</a:t>
            </a:r>
          </a:p>
        </p:txBody>
      </p:sp>
      <p:sp>
        <p:nvSpPr>
          <p:cNvPr id="7" name="shape-100">
            <a:extLst xmlns:a="http://schemas.openxmlformats.org/drawingml/2006/main">
              <a:ext uri="{FF2B5EF4-FFF2-40B4-BE49-F238E27FC236}">
                <a16:creationId xmlns:a16="http://schemas.microsoft.com/office/drawing/2014/main" id="{DB1B51C2-CF41-4258-999D-978CD65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623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这张图的 e 是多少？</a:t>
            </a:r>
          </a:p>
        </p:txBody>
      </p:sp>
      <p:sp>
        <p:nvSpPr>
          <p:cNvPr id="8" name="shape-101">
            <a:extLst xmlns:a="http://schemas.openxmlformats.org/drawingml/2006/main">
              <a:ext uri="{FF2B5EF4-FFF2-40B4-BE49-F238E27FC236}">
                <a16:creationId xmlns:a16="http://schemas.microsoft.com/office/drawing/2014/main" id="{D9EC023D-222C-42A4-B281-7532DE1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623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没有黑线时，偏差该填什么？</a:t>
            </a:r>
          </a:p>
        </p:txBody>
      </p:sp>
      <p:sp>
        <p:nvSpPr>
          <p:cNvPr id="9" name="shape-102">
            <a:extLst xmlns:a="http://schemas.openxmlformats.org/drawingml/2006/main">
              <a:ext uri="{FF2B5EF4-FFF2-40B4-BE49-F238E27FC236}">
                <a16:creationId xmlns:a16="http://schemas.microsoft.com/office/drawing/2014/main" id="{ABC51628-C07F-42AD-856F-193D7E7C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81425"/>
            <a:ext cx="6238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阈值改变后，先检查哪张图？</a:t>
            </a:r>
          </a:p>
        </p:txBody>
      </p:sp>
      <p:sp>
        <p:nvSpPr>
          <p:cNvPr id="10" name="shape-103">
            <a:extLst xmlns:a="http://schemas.openxmlformats.org/drawingml/2006/main">
              <a:ext uri="{FF2B5EF4-FFF2-40B4-BE49-F238E27FC236}">
                <a16:creationId xmlns:a16="http://schemas.microsoft.com/office/drawing/2014/main" id="{7AA5282E-5E0B-46AE-BA8D-2EAF2A6C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39"/>
                </a:solidFill>
                <a:latin typeface="Microsoft YaHei"/>
                <a:ea typeface="Microsoft YaHei"/>
                <a:cs typeface="Microsoft YaHei"/>
              </a:rPr>
              <a:t>课后提交代码、标注图和至少四个案例的实验记录</a:t>
            </a:r>
          </a:p>
        </p:txBody>
      </p:sp>
      <p:sp>
        <p:nvSpPr>
          <p:cNvPr id="11" name="shape-104">
            <a:extLst xmlns:a="http://schemas.openxmlformats.org/drawingml/2006/main">
              <a:ext uri="{FF2B5EF4-FFF2-40B4-BE49-F238E27FC236}">
                <a16:creationId xmlns:a16="http://schemas.microsoft.com/office/drawing/2014/main" id="{43470F71-CBA9-4380-92D8-4FF85F7A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C70"/>
                </a:solidFill>
                <a:latin typeface="Microsoft YaHei"/>
                <a:ea typeface="Microsoft YaHei"/>
                <a:cs typeface="Microsoft YaHei"/>
              </a:rPr>
              <a:t>完整方案、参考实现与资料来源见课程仓库</a:t>
            </a:r>
          </a:p>
        </p:txBody>
      </p:sp>
    </p:spTree>
    <p:extLst>
      <p:ext uri="{BB962C8B-B14F-4D97-AF65-F5344CB8AC3E}">
        <p14:creationId xmlns:p14="http://schemas.microsoft.com/office/powerpoint/2010/main" val="161074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2026-10-08T15:12:09.3500000Z</dcterms:created>
  <dcterms:modified xsi:type="dcterms:W3CDTF">2026-10-08T15:12:09.3500000Z</dcterms:modified>
</coreProperties>
</file>